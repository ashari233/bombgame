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12"/>
  </p:notesMasterIdLst>
  <p:sldIdLst>
    <p:sldId id="256" r:id="rId2"/>
    <p:sldId id="274" r:id="rId3"/>
    <p:sldId id="282" r:id="rId4"/>
    <p:sldId id="275" r:id="rId5"/>
    <p:sldId id="276" r:id="rId6"/>
    <p:sldId id="277" r:id="rId7"/>
    <p:sldId id="278" r:id="rId8"/>
    <p:sldId id="281" r:id="rId9"/>
    <p:sldId id="279" r:id="rId10"/>
    <p:sldId id="280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8541C3-4EFE-3F43-E114-6D39C32D4208}" v="306" dt="2026-05-04T14:10:16.892"/>
    <p1510:client id="{39E67946-A615-BC41-8BFE-870C609C0C58}" v="9" dt="2026-05-05T04:25:33.370"/>
    <p1510:client id="{CE480D06-7DB5-BBFB-4B29-5E81CC02BD53}" v="388" dt="2026-05-04T14:20:28.168"/>
    <p1510:client id="{D33A18C7-44A6-1FE4-0825-C5FE9BE7BDB3}" v="680" dt="2026-05-04T20:12:46.190"/>
    <p1510:client id="{D6BFB4DB-C256-32E0-DEF0-10CC26F01A40}" v="937" dt="2026-05-04T05:21:58.099"/>
    <p1510:client id="{F2183588-91D0-7DC4-FA56-DAD3F423568E}" v="66" dt="2026-05-04T20:58:25.593"/>
  </p1510:revLst>
</p1510:revInfo>
</file>

<file path=ppt/tableStyles.xml><?xml version="1.0" encoding="utf-8"?>
<a:tblStyleLst xmlns:a="http://schemas.openxmlformats.org/drawingml/2006/main" def="{91F18C55-F870-4F48-935F-635CF529C1CC}">
  <a:tblStyle styleId="{91F18C55-F870-4F48-935F-635CF529C1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331DD8-82CC-4EA9-BB05-05E6C8CF288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BD12A8-9DB9-4B4A-BE55-48B7B832266A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0E59D1-F6B0-4D3A-AAA7-7A75C230AC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are stuck in time with your broken time machine! </a:t>
          </a:r>
        </a:p>
      </dgm:t>
    </dgm:pt>
    <dgm:pt modelId="{900BBC5D-8CB3-4E41-A013-FD22626CFCCC}" type="parTrans" cxnId="{247FA344-C015-485E-BD94-FBA7602A0943}">
      <dgm:prSet/>
      <dgm:spPr/>
      <dgm:t>
        <a:bodyPr/>
        <a:lstStyle/>
        <a:p>
          <a:endParaRPr lang="en-US"/>
        </a:p>
      </dgm:t>
    </dgm:pt>
    <dgm:pt modelId="{CC09F097-F241-435A-8FB4-63E02DD19E5B}" type="sibTrans" cxnId="{247FA344-C015-485E-BD94-FBA7602A0943}">
      <dgm:prSet/>
      <dgm:spPr/>
      <dgm:t>
        <a:bodyPr/>
        <a:lstStyle/>
        <a:p>
          <a:endParaRPr lang="en-US"/>
        </a:p>
      </dgm:t>
    </dgm:pt>
    <dgm:pt modelId="{B17D2308-3296-4E9A-99C3-73B56B82A1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realize many functions (button, wires, toggles, keypad ) need to be </a:t>
          </a:r>
          <a:r>
            <a:rPr lang="en-US">
              <a:latin typeface="Arial"/>
            </a:rPr>
            <a:t>addressed</a:t>
          </a:r>
          <a:r>
            <a:rPr lang="en-US"/>
            <a:t> and fixed . </a:t>
          </a:r>
        </a:p>
      </dgm:t>
    </dgm:pt>
    <dgm:pt modelId="{31DA70CF-6191-44E7-9756-934AC3DC2DA2}" type="parTrans" cxnId="{117CD673-7C0B-4BF8-8C8B-15ABB006CA4D}">
      <dgm:prSet/>
      <dgm:spPr/>
      <dgm:t>
        <a:bodyPr/>
        <a:lstStyle/>
        <a:p>
          <a:endParaRPr lang="en-US"/>
        </a:p>
      </dgm:t>
    </dgm:pt>
    <dgm:pt modelId="{8A1C2C8C-3EBA-4944-97D0-75593E77093E}" type="sibTrans" cxnId="{117CD673-7C0B-4BF8-8C8B-15ABB006CA4D}">
      <dgm:prSet/>
      <dgm:spPr/>
      <dgm:t>
        <a:bodyPr/>
        <a:lstStyle/>
        <a:p>
          <a:endParaRPr lang="en-US"/>
        </a:p>
      </dgm:t>
    </dgm:pt>
    <dgm:pt modelId="{A3CF5DC4-0C81-49B2-9277-78A9C95A7ED4}">
      <dgm:prSet/>
      <dgm:spPr/>
      <dgm:t>
        <a:bodyPr/>
        <a:lstStyle/>
        <a:p>
          <a:pPr rtl="0"/>
          <a:r>
            <a:rPr lang="en-US"/>
            <a:t>Once you solve them, you can get back to 2026! If not... your time machine will blow up and </a:t>
          </a:r>
          <a:r>
            <a:rPr lang="en-US">
              <a:latin typeface="Arial"/>
            </a:rPr>
            <a:t>you will</a:t>
          </a:r>
          <a:r>
            <a:rPr lang="en-US"/>
            <a:t> be stuck in time forever!</a:t>
          </a:r>
        </a:p>
      </dgm:t>
    </dgm:pt>
    <dgm:pt modelId="{AABD5808-5BCD-4064-B05D-C9BED5845B6A}" type="parTrans" cxnId="{368709DB-986F-4761-A88B-C911913F6700}">
      <dgm:prSet/>
      <dgm:spPr/>
      <dgm:t>
        <a:bodyPr/>
        <a:lstStyle/>
        <a:p>
          <a:endParaRPr lang="en-US"/>
        </a:p>
      </dgm:t>
    </dgm:pt>
    <dgm:pt modelId="{A48CCF76-72B7-47D9-85A3-943634203EE4}" type="sibTrans" cxnId="{368709DB-986F-4761-A88B-C911913F6700}">
      <dgm:prSet/>
      <dgm:spPr/>
      <dgm:t>
        <a:bodyPr/>
        <a:lstStyle/>
        <a:p>
          <a:endParaRPr lang="en-US"/>
        </a:p>
      </dgm:t>
    </dgm:pt>
    <dgm:pt modelId="{926F283B-441F-4541-A866-0A1687734503}" type="pres">
      <dgm:prSet presAssocID="{38BD12A8-9DB9-4B4A-BE55-48B7B832266A}" presName="Name0" presStyleCnt="0">
        <dgm:presLayoutVars>
          <dgm:dir/>
          <dgm:animLvl val="lvl"/>
          <dgm:resizeHandles val="exact"/>
        </dgm:presLayoutVars>
      </dgm:prSet>
      <dgm:spPr/>
    </dgm:pt>
    <dgm:pt modelId="{B1CCB6B4-11ED-4DCD-920C-A89E4EB31730}" type="pres">
      <dgm:prSet presAssocID="{A3CF5DC4-0C81-49B2-9277-78A9C95A7ED4}" presName="boxAndChildren" presStyleCnt="0"/>
      <dgm:spPr/>
    </dgm:pt>
    <dgm:pt modelId="{5C90AAEF-AE6E-46BE-B03A-9D0BA407EBA7}" type="pres">
      <dgm:prSet presAssocID="{A3CF5DC4-0C81-49B2-9277-78A9C95A7ED4}" presName="parentTextBox" presStyleLbl="node1" presStyleIdx="0" presStyleCnt="3"/>
      <dgm:spPr/>
    </dgm:pt>
    <dgm:pt modelId="{07DFB4B9-6328-43CD-ACAE-F921774B32D0}" type="pres">
      <dgm:prSet presAssocID="{8A1C2C8C-3EBA-4944-97D0-75593E77093E}" presName="sp" presStyleCnt="0"/>
      <dgm:spPr/>
    </dgm:pt>
    <dgm:pt modelId="{E2C7361D-9DB0-47B8-8BB3-44F9395DCCDB}" type="pres">
      <dgm:prSet presAssocID="{B17D2308-3296-4E9A-99C3-73B56B82A1EE}" presName="arrowAndChildren" presStyleCnt="0"/>
      <dgm:spPr/>
    </dgm:pt>
    <dgm:pt modelId="{5935241B-D527-4658-A16D-6A59162BACD0}" type="pres">
      <dgm:prSet presAssocID="{B17D2308-3296-4E9A-99C3-73B56B82A1EE}" presName="parentTextArrow" presStyleLbl="node1" presStyleIdx="1" presStyleCnt="3"/>
      <dgm:spPr/>
    </dgm:pt>
    <dgm:pt modelId="{1FB3A15C-5E6E-4026-B188-72E99C08790F}" type="pres">
      <dgm:prSet presAssocID="{CC09F097-F241-435A-8FB4-63E02DD19E5B}" presName="sp" presStyleCnt="0"/>
      <dgm:spPr/>
    </dgm:pt>
    <dgm:pt modelId="{DB0FE595-EE77-482E-B5AF-ACC3971F829D}" type="pres">
      <dgm:prSet presAssocID="{6B0E59D1-F6B0-4D3A-AAA7-7A75C230ACD6}" presName="arrowAndChildren" presStyleCnt="0"/>
      <dgm:spPr/>
    </dgm:pt>
    <dgm:pt modelId="{4171DF7D-120C-4A46-B594-55860395BF7F}" type="pres">
      <dgm:prSet presAssocID="{6B0E59D1-F6B0-4D3A-AAA7-7A75C230ACD6}" presName="parentTextArrow" presStyleLbl="node1" presStyleIdx="2" presStyleCnt="3"/>
      <dgm:spPr/>
    </dgm:pt>
  </dgm:ptLst>
  <dgm:cxnLst>
    <dgm:cxn modelId="{247FA344-C015-485E-BD94-FBA7602A0943}" srcId="{38BD12A8-9DB9-4B4A-BE55-48B7B832266A}" destId="{6B0E59D1-F6B0-4D3A-AAA7-7A75C230ACD6}" srcOrd="0" destOrd="0" parTransId="{900BBC5D-8CB3-4E41-A013-FD22626CFCCC}" sibTransId="{CC09F097-F241-435A-8FB4-63E02DD19E5B}"/>
    <dgm:cxn modelId="{B82A0C50-BD21-42AD-866B-3261CF9E266E}" type="presOf" srcId="{B17D2308-3296-4E9A-99C3-73B56B82A1EE}" destId="{5935241B-D527-4658-A16D-6A59162BACD0}" srcOrd="0" destOrd="0" presId="urn:microsoft.com/office/officeart/2005/8/layout/process4"/>
    <dgm:cxn modelId="{27819D57-BF33-429A-8012-E8794FFC3D60}" type="presOf" srcId="{38BD12A8-9DB9-4B4A-BE55-48B7B832266A}" destId="{926F283B-441F-4541-A866-0A1687734503}" srcOrd="0" destOrd="0" presId="urn:microsoft.com/office/officeart/2005/8/layout/process4"/>
    <dgm:cxn modelId="{117CD673-7C0B-4BF8-8C8B-15ABB006CA4D}" srcId="{38BD12A8-9DB9-4B4A-BE55-48B7B832266A}" destId="{B17D2308-3296-4E9A-99C3-73B56B82A1EE}" srcOrd="1" destOrd="0" parTransId="{31DA70CF-6191-44E7-9756-934AC3DC2DA2}" sibTransId="{8A1C2C8C-3EBA-4944-97D0-75593E77093E}"/>
    <dgm:cxn modelId="{54FAADBC-442F-4A4B-B8DD-A179A0C1DFC0}" type="presOf" srcId="{6B0E59D1-F6B0-4D3A-AAA7-7A75C230ACD6}" destId="{4171DF7D-120C-4A46-B594-55860395BF7F}" srcOrd="0" destOrd="0" presId="urn:microsoft.com/office/officeart/2005/8/layout/process4"/>
    <dgm:cxn modelId="{BC076FD2-33F9-4F78-8AAE-645205C5CF3B}" type="presOf" srcId="{A3CF5DC4-0C81-49B2-9277-78A9C95A7ED4}" destId="{5C90AAEF-AE6E-46BE-B03A-9D0BA407EBA7}" srcOrd="0" destOrd="0" presId="urn:microsoft.com/office/officeart/2005/8/layout/process4"/>
    <dgm:cxn modelId="{368709DB-986F-4761-A88B-C911913F6700}" srcId="{38BD12A8-9DB9-4B4A-BE55-48B7B832266A}" destId="{A3CF5DC4-0C81-49B2-9277-78A9C95A7ED4}" srcOrd="2" destOrd="0" parTransId="{AABD5808-5BCD-4064-B05D-C9BED5845B6A}" sibTransId="{A48CCF76-72B7-47D9-85A3-943634203EE4}"/>
    <dgm:cxn modelId="{7BE98494-F988-49B7-9DAC-CE67869CBEA6}" type="presParOf" srcId="{926F283B-441F-4541-A866-0A1687734503}" destId="{B1CCB6B4-11ED-4DCD-920C-A89E4EB31730}" srcOrd="0" destOrd="0" presId="urn:microsoft.com/office/officeart/2005/8/layout/process4"/>
    <dgm:cxn modelId="{728BE8DA-7035-44AB-9255-FBA10D8162B7}" type="presParOf" srcId="{B1CCB6B4-11ED-4DCD-920C-A89E4EB31730}" destId="{5C90AAEF-AE6E-46BE-B03A-9D0BA407EBA7}" srcOrd="0" destOrd="0" presId="urn:microsoft.com/office/officeart/2005/8/layout/process4"/>
    <dgm:cxn modelId="{773E9CA7-7AF1-49B8-9047-D7A82A3DD0B3}" type="presParOf" srcId="{926F283B-441F-4541-A866-0A1687734503}" destId="{07DFB4B9-6328-43CD-ACAE-F921774B32D0}" srcOrd="1" destOrd="0" presId="urn:microsoft.com/office/officeart/2005/8/layout/process4"/>
    <dgm:cxn modelId="{1ACA7D14-CE86-45A5-958C-0A9698A60313}" type="presParOf" srcId="{926F283B-441F-4541-A866-0A1687734503}" destId="{E2C7361D-9DB0-47B8-8BB3-44F9395DCCDB}" srcOrd="2" destOrd="0" presId="urn:microsoft.com/office/officeart/2005/8/layout/process4"/>
    <dgm:cxn modelId="{696109F7-8725-4D22-9035-D7105B60AED1}" type="presParOf" srcId="{E2C7361D-9DB0-47B8-8BB3-44F9395DCCDB}" destId="{5935241B-D527-4658-A16D-6A59162BACD0}" srcOrd="0" destOrd="0" presId="urn:microsoft.com/office/officeart/2005/8/layout/process4"/>
    <dgm:cxn modelId="{1C4C19EE-840E-4068-9F80-2150782A4143}" type="presParOf" srcId="{926F283B-441F-4541-A866-0A1687734503}" destId="{1FB3A15C-5E6E-4026-B188-72E99C08790F}" srcOrd="3" destOrd="0" presId="urn:microsoft.com/office/officeart/2005/8/layout/process4"/>
    <dgm:cxn modelId="{B02F5644-9800-42F0-8351-DEDFE711FCFA}" type="presParOf" srcId="{926F283B-441F-4541-A866-0A1687734503}" destId="{DB0FE595-EE77-482E-B5AF-ACC3971F829D}" srcOrd="4" destOrd="0" presId="urn:microsoft.com/office/officeart/2005/8/layout/process4"/>
    <dgm:cxn modelId="{711D53B4-38E3-4D77-B005-E4D7690D480C}" type="presParOf" srcId="{DB0FE595-EE77-482E-B5AF-ACC3971F829D}" destId="{4171DF7D-120C-4A46-B594-55860395BF7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0AAEF-AE6E-46BE-B03A-9D0BA407EBA7}">
      <dsp:nvSpPr>
        <dsp:cNvPr id="0" name=""/>
        <dsp:cNvSpPr/>
      </dsp:nvSpPr>
      <dsp:spPr>
        <a:xfrm>
          <a:off x="0" y="1910937"/>
          <a:ext cx="7598568" cy="6272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Once you solve them, you can get back to 2026! If not... your time machine will blow up and </a:t>
          </a:r>
          <a:r>
            <a:rPr lang="en-US" sz="1400" kern="1200">
              <a:latin typeface="Arial"/>
            </a:rPr>
            <a:t>you will</a:t>
          </a:r>
          <a:r>
            <a:rPr lang="en-US" sz="1400" kern="1200"/>
            <a:t> be stuck in time forever!</a:t>
          </a:r>
        </a:p>
      </dsp:txBody>
      <dsp:txXfrm>
        <a:off x="0" y="1910937"/>
        <a:ext cx="7598568" cy="627212"/>
      </dsp:txXfrm>
    </dsp:sp>
    <dsp:sp modelId="{5935241B-D527-4658-A16D-6A59162BACD0}">
      <dsp:nvSpPr>
        <dsp:cNvPr id="0" name=""/>
        <dsp:cNvSpPr/>
      </dsp:nvSpPr>
      <dsp:spPr>
        <a:xfrm rot="10800000">
          <a:off x="0" y="955693"/>
          <a:ext cx="7598568" cy="964652"/>
        </a:xfrm>
        <a:prstGeom prst="upArrowCallout">
          <a:avLst/>
        </a:prstGeom>
        <a:solidFill>
          <a:schemeClr val="accent2">
            <a:hueOff val="-1555074"/>
            <a:satOff val="-8227"/>
            <a:lumOff val="-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You realize many functions (button, wires, toggles, keypad ) need to be </a:t>
          </a:r>
          <a:r>
            <a:rPr lang="en-US" sz="1400" kern="1200">
              <a:latin typeface="Arial"/>
            </a:rPr>
            <a:t>addressed</a:t>
          </a:r>
          <a:r>
            <a:rPr lang="en-US" sz="1400" kern="1200"/>
            <a:t> and fixed . </a:t>
          </a:r>
        </a:p>
      </dsp:txBody>
      <dsp:txXfrm rot="10800000">
        <a:off x="0" y="955693"/>
        <a:ext cx="7598568" cy="626802"/>
      </dsp:txXfrm>
    </dsp:sp>
    <dsp:sp modelId="{4171DF7D-120C-4A46-B594-55860395BF7F}">
      <dsp:nvSpPr>
        <dsp:cNvPr id="0" name=""/>
        <dsp:cNvSpPr/>
      </dsp:nvSpPr>
      <dsp:spPr>
        <a:xfrm rot="10800000">
          <a:off x="0" y="448"/>
          <a:ext cx="7598568" cy="964652"/>
        </a:xfrm>
        <a:prstGeom prst="upArrowCallout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You are stuck in time with your broken time machine! </a:t>
          </a:r>
        </a:p>
      </dsp:txBody>
      <dsp:txXfrm rot="10800000">
        <a:off x="0" y="448"/>
        <a:ext cx="7598568" cy="6268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ea3853851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ea3853851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799" y="1473200"/>
            <a:ext cx="5398295" cy="1816098"/>
          </a:xfrm>
        </p:spPr>
        <p:txBody>
          <a:bodyPr anchor="b">
            <a:normAutofit/>
          </a:bodyPr>
          <a:lstStyle>
            <a:lvl1pPr algn="r">
              <a:defRPr sz="8533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799" y="3289300"/>
            <a:ext cx="5398295" cy="1054100"/>
          </a:xfrm>
        </p:spPr>
        <p:txBody>
          <a:bodyPr anchor="t">
            <a:normAutofit/>
          </a:bodyPr>
          <a:lstStyle>
            <a:lvl1pPr marL="0" indent="0" algn="r">
              <a:buNone/>
              <a:defRPr sz="3200" cap="all">
                <a:solidFill>
                  <a:schemeClr val="tx1"/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419" y="4402932"/>
            <a:ext cx="1200150" cy="283369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799" y="4402932"/>
            <a:ext cx="3670469" cy="28336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6719" y="4402932"/>
            <a:ext cx="413375" cy="28336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59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8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2481436"/>
            <a:ext cx="7598570" cy="1101600"/>
          </a:xfrm>
        </p:spPr>
        <p:txBody>
          <a:bodyPr anchor="b"/>
          <a:lstStyle>
            <a:lvl1pPr algn="l">
              <a:defRPr sz="7111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3036"/>
            <a:ext cx="759857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3556" cap="all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8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1" y="1606550"/>
            <a:ext cx="3746501" cy="273685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6421" y="1606551"/>
            <a:ext cx="3746499" cy="27368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60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30252" y="1663700"/>
            <a:ext cx="3531791" cy="432197"/>
          </a:xfrm>
        </p:spPr>
        <p:txBody>
          <a:bodyPr anchor="b">
            <a:noAutofit/>
          </a:bodyPr>
          <a:lstStyle>
            <a:lvl1pPr marL="0" indent="0">
              <a:buNone/>
              <a:defRPr sz="4978" b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152651"/>
            <a:ext cx="3747692" cy="21907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72003" y="1670050"/>
            <a:ext cx="3542110" cy="432197"/>
          </a:xfrm>
        </p:spPr>
        <p:txBody>
          <a:bodyPr anchor="b">
            <a:noAutofit/>
          </a:bodyPr>
          <a:lstStyle>
            <a:lvl1pPr marL="0" indent="0">
              <a:buNone/>
              <a:defRPr sz="4978" b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67612" y="2152651"/>
            <a:ext cx="3746501" cy="21907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37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55750"/>
            <a:ext cx="2760664" cy="1028700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6151" y="457201"/>
            <a:ext cx="4626770" cy="3886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584450"/>
            <a:ext cx="2760664" cy="1371600"/>
          </a:xfrm>
        </p:spPr>
        <p:txBody>
          <a:bodyPr anchor="t">
            <a:normAutofit/>
          </a:bodyPr>
          <a:lstStyle>
            <a:lvl1pPr marL="0" indent="0">
              <a:buNone/>
              <a:defRPr sz="2844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81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200150"/>
            <a:ext cx="4623490" cy="1028700"/>
          </a:xfrm>
        </p:spPr>
        <p:txBody>
          <a:bodyPr anchor="b">
            <a:normAutofit/>
          </a:bodyPr>
          <a:lstStyle>
            <a:lvl1pPr algn="l">
              <a:defRPr sz="4978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2190" y="685800"/>
            <a:ext cx="2460731" cy="3429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228850"/>
            <a:ext cx="4623490" cy="1371600"/>
          </a:xfrm>
        </p:spPr>
        <p:txBody>
          <a:bodyPr anchor="t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8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3549649"/>
            <a:ext cx="7598570" cy="425054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8701" y="699084"/>
            <a:ext cx="6569870" cy="237373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974702"/>
            <a:ext cx="7598570" cy="37028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71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343149"/>
          </a:xfrm>
        </p:spPr>
        <p:txBody>
          <a:bodyPr anchor="ctr">
            <a:normAutofit/>
          </a:bodyPr>
          <a:lstStyle>
            <a:lvl1pPr algn="l">
              <a:defRPr sz="5689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17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4222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4222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568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3406" y="2514600"/>
            <a:ext cx="7004388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812810" indent="0">
              <a:buFontTx/>
              <a:buNone/>
              <a:defRPr/>
            </a:lvl2pPr>
            <a:lvl3pPr marL="1625620" indent="0">
              <a:buFontTx/>
              <a:buNone/>
              <a:defRPr/>
            </a:lvl3pPr>
            <a:lvl4pPr marL="2438430" indent="0">
              <a:buFontTx/>
              <a:buNone/>
              <a:defRPr/>
            </a:lvl4pPr>
            <a:lvl5pPr marL="325124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599" y="3257550"/>
            <a:ext cx="7614275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24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2481436"/>
            <a:ext cx="7598569" cy="1101600"/>
          </a:xfrm>
        </p:spPr>
        <p:txBody>
          <a:bodyPr anchor="b">
            <a:normAutofit/>
          </a:bodyPr>
          <a:lstStyle>
            <a:lvl1pPr algn="l">
              <a:defRPr sz="5689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583036"/>
            <a:ext cx="7598570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36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4222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4222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568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0" y="2914650"/>
            <a:ext cx="7601577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267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1400"/>
            <a:ext cx="7601577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08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1" y="2628900"/>
            <a:ext cx="7598571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978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35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568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4006" y="457200"/>
            <a:ext cx="1618914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457200"/>
            <a:ext cx="5874087" cy="38862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2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606551"/>
            <a:ext cx="7598569" cy="2736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402932"/>
            <a:ext cx="5870744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9546" y="4402932"/>
            <a:ext cx="413375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95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" name="Rectangle 307">
            <a:extLst>
              <a:ext uri="{FF2B5EF4-FFF2-40B4-BE49-F238E27FC236}">
                <a16:creationId xmlns:a16="http://schemas.microsoft.com/office/drawing/2014/main" id="{0DC895F7-4E59-40FB-87DD-ACE47F94C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5142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piraling clock in space&#10;&#10;AI-generated content may be incorrect.">
            <a:extLst>
              <a:ext uri="{FF2B5EF4-FFF2-40B4-BE49-F238E27FC236}">
                <a16:creationId xmlns:a16="http://schemas.microsoft.com/office/drawing/2014/main" id="{0B9D72DC-8B9F-A344-92A0-7124234FF79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rcRect b="10359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pic>
        <p:nvPicPr>
          <p:cNvPr id="309" name="Picture 308">
            <a:extLst>
              <a:ext uri="{FF2B5EF4-FFF2-40B4-BE49-F238E27FC236}">
                <a16:creationId xmlns:a16="http://schemas.microsoft.com/office/drawing/2014/main" id="{1A4C720E-710D-44F8-A8D7-2BAA61E1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5142160"/>
          </a:xfrm>
          <a:prstGeom prst="rect">
            <a:avLst/>
          </a:prstGeom>
        </p:spPr>
      </p:pic>
      <p:sp>
        <p:nvSpPr>
          <p:cNvPr id="216" name="Google Shape;216;p35"/>
          <p:cNvSpPr txBox="1">
            <a:spLocks noGrp="1"/>
          </p:cNvSpPr>
          <p:nvPr>
            <p:ph type="ctrTitle"/>
          </p:nvPr>
        </p:nvSpPr>
        <p:spPr>
          <a:xfrm>
            <a:off x="2971799" y="1473200"/>
            <a:ext cx="5398294" cy="1816098"/>
          </a:xfrm>
        </p:spPr>
        <p:txBody>
          <a:bodyPr spcFirstLastPara="1" lIns="91425" tIns="91425" rIns="91425" bIns="91425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 sz="5300"/>
              <a:t>Defuse the Bomb Presentation </a:t>
            </a:r>
          </a:p>
        </p:txBody>
      </p:sp>
      <p:sp>
        <p:nvSpPr>
          <p:cNvPr id="217" name="Google Shape;217;p35"/>
          <p:cNvSpPr txBox="1">
            <a:spLocks noGrp="1"/>
          </p:cNvSpPr>
          <p:nvPr>
            <p:ph type="subTitle" idx="1"/>
          </p:nvPr>
        </p:nvSpPr>
        <p:spPr>
          <a:xfrm>
            <a:off x="2971799" y="3289299"/>
            <a:ext cx="5398294" cy="1054100"/>
          </a:xfrm>
        </p:spPr>
        <p:txBody>
          <a:bodyPr spcFirstLastPara="1" lIns="91425" tIns="91425" rIns="91425" bIns="91425" anchorCtr="0">
            <a:normAutofit/>
          </a:bodyPr>
          <a:lstStyle/>
          <a:p>
            <a:pPr marL="0" indent="0">
              <a:spcAft>
                <a:spcPts val="600"/>
              </a:spcAft>
            </a:pPr>
            <a:r>
              <a:rPr lang="en"/>
              <a:t>By: Maddie, Kate, Ashari, TJ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1ED9-3CE8-C547-1844-67DD8FE8D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13" y="335611"/>
            <a:ext cx="3883384" cy="1092200"/>
          </a:xfrm>
        </p:spPr>
        <p:txBody>
          <a:bodyPr>
            <a:normAutofit/>
          </a:bodyPr>
          <a:lstStyle/>
          <a:p>
            <a:pPr algn="ctr"/>
            <a:r>
              <a:rPr lang="en" dirty="0"/>
              <a:t>Time Travel Story</a:t>
            </a:r>
            <a:endParaRPr lang="en-US" dirty="0"/>
          </a:p>
        </p:txBody>
      </p:sp>
      <p:graphicFrame>
        <p:nvGraphicFramePr>
          <p:cNvPr id="5" name="Subtitle 2">
            <a:extLst>
              <a:ext uri="{FF2B5EF4-FFF2-40B4-BE49-F238E27FC236}">
                <a16:creationId xmlns:a16="http://schemas.microsoft.com/office/drawing/2014/main" id="{FCAE8398-34DE-802A-4157-BA815B1020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062826"/>
              </p:ext>
            </p:extLst>
          </p:nvPr>
        </p:nvGraphicFramePr>
        <p:xfrm>
          <a:off x="770021" y="1827359"/>
          <a:ext cx="7598568" cy="2538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9142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9C6C39-DC3F-2203-0C1C-CE2B6139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B9604-9521-FF55-BA22-ADB511504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7681" y="425394"/>
            <a:ext cx="3860797" cy="1231490"/>
          </a:xfrm>
        </p:spPr>
        <p:txBody>
          <a:bodyPr>
            <a:normAutofit/>
          </a:bodyPr>
          <a:lstStyle/>
          <a:p>
            <a:pPr algn="ctr"/>
            <a:r>
              <a:rPr lang="en" dirty="0"/>
              <a:t>MAINTENANCE PAGE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D389DC-45B5-ACD7-71C9-80813B776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97" y="1393713"/>
            <a:ext cx="4085303" cy="2109037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92E146-2575-89F9-88E7-188FF7F2552A}"/>
              </a:ext>
            </a:extLst>
          </p:cNvPr>
          <p:cNvSpPr txBox="1"/>
          <p:nvPr/>
        </p:nvSpPr>
        <p:spPr>
          <a:xfrm>
            <a:off x="4871557" y="1734773"/>
            <a:ext cx="4273047" cy="3508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 time machine displays this page to the user</a:t>
            </a:r>
          </a:p>
          <a:p>
            <a:pPr marL="285750" indent="-285750">
              <a:buFont typeface="Arial,Sans-Serif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Every piece of red text is an unsolved phase. Except for the destination year, that is the fourth phase.</a:t>
            </a:r>
          </a:p>
          <a:p>
            <a:pPr marL="285750" indent="-285750">
              <a:buFont typeface="Arial,Sans-Serif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Strikes are shown in the top right corner. If you reach 0 strikes, the time machine will explode.</a:t>
            </a:r>
          </a:p>
          <a:p>
            <a:pPr marL="285750" indent="-285750">
              <a:buFont typeface="Arial,Sans-Serif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If you successfully complete all the phases, you will travel back to the year 2026 CE</a:t>
            </a:r>
          </a:p>
          <a:p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941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53ED3FC-3BE8-4F1F-BEF1-74B1C721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5142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01E65A-704E-B319-6ADB-EBEED982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457200"/>
            <a:ext cx="4711700" cy="1092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/>
              <a:t>Button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2A852-7679-BCDA-ECDB-C7D6F1F41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1" y="1606550"/>
            <a:ext cx="4711700" cy="27368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The button will blink an error code that will determine how many times you must press the button to access the machine’s time travel features</a:t>
            </a:r>
          </a:p>
          <a:p>
            <a:r>
              <a:rPr lang="en-US" dirty="0"/>
              <a:t>This error code will also be used in the other components to disarm the rest of the bomb</a:t>
            </a:r>
          </a:p>
          <a:p>
            <a:r>
              <a:rPr lang="en-US" dirty="0"/>
              <a:t>You will receive a strike if you input the wrong amount of button presses</a:t>
            </a:r>
          </a:p>
        </p:txBody>
      </p:sp>
      <p:pic>
        <p:nvPicPr>
          <p:cNvPr id="5" name="Picture 4" descr="A colorful circle in a black hexagon&#10;&#10;AI-generated content may be incorrect.">
            <a:extLst>
              <a:ext uri="{FF2B5EF4-FFF2-40B4-BE49-F238E27FC236}">
                <a16:creationId xmlns:a16="http://schemas.microsoft.com/office/drawing/2014/main" id="{CCC97C44-883E-427B-F6A1-838628AAE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202" y="1426238"/>
            <a:ext cx="2584285" cy="223387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6643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97C54A57-5BF4-42A7-DFC3-ED4635C4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406" y="455672"/>
            <a:ext cx="4535321" cy="9835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Wires Function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F4EF0B6-1453-92F4-CBC9-8802A1941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,Sans-Serif"/>
              <a:buChar char="•"/>
            </a:pPr>
            <a:endParaRPr lang="en" sz="2600"/>
          </a:p>
          <a:p>
            <a:endParaRPr lang="en-US" sz="56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2DADD6-F391-B1F4-1761-638993BD96C8}"/>
              </a:ext>
            </a:extLst>
          </p:cNvPr>
          <p:cNvSpPr txBox="1"/>
          <p:nvPr/>
        </p:nvSpPr>
        <p:spPr>
          <a:xfrm>
            <a:off x="4871557" y="1734773"/>
            <a:ext cx="4273047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,Sans-Serif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Wires correspond with color sequence displayed on the button </a:t>
            </a:r>
          </a:p>
          <a:p>
            <a:pPr marL="342900" indent="-342900">
              <a:buFont typeface="Arial,Sans-Serif"/>
              <a:buChar char="•"/>
            </a:pPr>
            <a:endParaRPr lang="en-US" sz="1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 player must "cut" one wire according to the button error code </a:t>
            </a:r>
          </a:p>
          <a:p>
            <a:pPr marL="285750" indent="-285750">
              <a:buFont typeface="Arial,Sans-Serif"/>
              <a:buChar char="•"/>
            </a:pPr>
            <a:endParaRPr lang="en-US" sz="1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If the player pulls the wrong wire, they automatically fail </a:t>
            </a:r>
          </a:p>
          <a:p>
            <a:pPr marL="285750" indent="-285750">
              <a:buFont typeface="Arial,Sans-Serif"/>
              <a:buChar char="•"/>
            </a:pPr>
            <a:endParaRPr lang="en-US" sz="1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 descr="A group of colored wires&#10;&#10;AI-generated content may be incorrect.">
            <a:extLst>
              <a:ext uri="{FF2B5EF4-FFF2-40B4-BE49-F238E27FC236}">
                <a16:creationId xmlns:a16="http://schemas.microsoft.com/office/drawing/2014/main" id="{02F2AFC2-F18E-CE6A-DF5E-0B18AD463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04" y="1900065"/>
            <a:ext cx="4415458" cy="202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709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3ED3FC-3BE8-4F1F-BEF1-74B1C721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51421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50DC719-ACC1-1981-3135-10AB99E0A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457200"/>
            <a:ext cx="4711700" cy="1092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/>
              <a:t>Keypad Function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CE0780-7B2D-B3AB-E1D6-21DF2CEC6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1" y="1606550"/>
            <a:ext cx="4711700" cy="27368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Using the error code from the button, figure out the order in which the images are being presented. </a:t>
            </a:r>
          </a:p>
          <a:p>
            <a:pPr>
              <a:lnSpc>
                <a:spcPct val="90000"/>
              </a:lnSpc>
            </a:pPr>
            <a:r>
              <a:rPr lang="en-US" dirty="0"/>
              <a:t>Once that is figured out, you must find the years that correlate with each image and put them in order based on the pattern map listed in the manual. </a:t>
            </a:r>
          </a:p>
          <a:p>
            <a:pPr>
              <a:lnSpc>
                <a:spcPct val="90000"/>
              </a:lnSpc>
            </a:pPr>
            <a:r>
              <a:rPr lang="en-US" dirty="0"/>
              <a:t>You will receive a strike if you type the wrong year or the years in the wrong order. </a:t>
            </a:r>
          </a:p>
        </p:txBody>
      </p:sp>
      <p:pic>
        <p:nvPicPr>
          <p:cNvPr id="3" name="Picture 2" descr="A screenshot of a phone keypad&#10;&#10;AI-generated content may be incorrect.">
            <a:extLst>
              <a:ext uri="{FF2B5EF4-FFF2-40B4-BE49-F238E27FC236}">
                <a16:creationId xmlns:a16="http://schemas.microsoft.com/office/drawing/2014/main" id="{4E10BF06-3026-DF07-5C89-B05F52555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202" y="939961"/>
            <a:ext cx="2584285" cy="3206427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9161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3ED3FC-3BE8-4F1F-BEF1-74B1C721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51421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A066E55-22EA-5E81-8440-7101A0AF3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5788" y="457199"/>
            <a:ext cx="4711699" cy="1092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/>
              <a:t>Toggles Function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596E7E-5630-C1F8-7BA1-406F19A61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5788" y="1606549"/>
            <a:ext cx="4711699" cy="273685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dirty="0"/>
              <a:t>You must set your destination year before using the time machine</a:t>
            </a:r>
          </a:p>
          <a:p>
            <a:r>
              <a:rPr lang="en-US" dirty="0"/>
              <a:t>The time machine uses the toggles as the method to select this destination year. Each toggle corresponds with a mathematical operation which changes based on the button error code</a:t>
            </a:r>
          </a:p>
          <a:p>
            <a:r>
              <a:rPr lang="en-US" dirty="0"/>
              <a:t>Your desired destination will always be 2026 CE</a:t>
            </a:r>
          </a:p>
        </p:txBody>
      </p:sp>
      <p:pic>
        <p:nvPicPr>
          <p:cNvPr id="3" name="Picture 2" descr="A red and black stapler&#10;&#10;AI-generated content may be incorrect.">
            <a:extLst>
              <a:ext uri="{FF2B5EF4-FFF2-40B4-BE49-F238E27FC236}">
                <a16:creationId xmlns:a16="http://schemas.microsoft.com/office/drawing/2014/main" id="{697D1EE3-177A-07CB-677A-6BC211949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1055186"/>
            <a:ext cx="2584285" cy="3035509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1963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FB39B4-AE39-5C35-5D11-1AC4E0082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84" y="309034"/>
            <a:ext cx="7598569" cy="1092200"/>
          </a:xfrm>
        </p:spPr>
        <p:txBody>
          <a:bodyPr>
            <a:normAutofit/>
          </a:bodyPr>
          <a:lstStyle/>
          <a:p>
            <a:pPr algn="ctr"/>
            <a:r>
              <a:rPr lang="en-US" sz="5000" dirty="0"/>
              <a:t>Team Dynamic and Goals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9E113-9A43-17DF-E0EE-C33E510B2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4600" b="1"/>
              <a:t>Goals</a:t>
            </a:r>
            <a:r>
              <a:rPr lang="en-US" sz="4600"/>
              <a:t> 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6C46C5-C89B-325B-E012-E2961DEA9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458" y="2154482"/>
            <a:ext cx="3614166" cy="267536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457200" indent="-457200">
              <a:buChar char="•"/>
            </a:pPr>
            <a:r>
              <a:rPr lang="en-US"/>
              <a:t>Make sure each member had a clear role</a:t>
            </a:r>
          </a:p>
          <a:p>
            <a:pPr marL="457200" indent="-457200">
              <a:buChar char="•"/>
            </a:pPr>
            <a:r>
              <a:rPr lang="en-US"/>
              <a:t>Finish on time while still leaving room for testing and improving</a:t>
            </a:r>
          </a:p>
          <a:p>
            <a:pPr marL="457200" indent="-457200">
              <a:buChar char="•"/>
            </a:pPr>
            <a:r>
              <a:rPr lang="en-US"/>
              <a:t>Figure out how the wires, keypad, and toggles could interact together with the button function without bugs or errors</a:t>
            </a:r>
          </a:p>
          <a:p>
            <a:pPr marL="457200" indent="-457200">
              <a:buChar char="•"/>
            </a:pP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B88D03-946A-BE26-DA30-7F509011B8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72003" y="1662530"/>
            <a:ext cx="3542110" cy="432197"/>
          </a:xfrm>
        </p:spPr>
        <p:txBody>
          <a:bodyPr>
            <a:normAutofit fontScale="55000" lnSpcReduction="20000"/>
          </a:bodyPr>
          <a:lstStyle/>
          <a:p>
            <a:r>
              <a:rPr lang="en-US" sz="4600" b="1"/>
              <a:t>Dynamics </a:t>
            </a:r>
            <a:endParaRPr lang="en-US" b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0EB8D-1019-E80C-97EA-14C34C313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72888" y="2152651"/>
            <a:ext cx="3746501" cy="2190749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/>
              <a:t>We met the goals of this project by dividing responsibilities by components  </a:t>
            </a:r>
          </a:p>
          <a:p>
            <a:pPr>
              <a:buClr>
                <a:srgbClr val="FFFFFF"/>
              </a:buClr>
            </a:pPr>
            <a:r>
              <a:rPr lang="en-US" dirty="0">
                <a:ea typeface="Calibri"/>
                <a:cs typeface="Calibri"/>
              </a:rPr>
              <a:t>After finishing our components, we worked together on the visuals such as the GUI, presentation, and manual</a:t>
            </a:r>
          </a:p>
          <a:p>
            <a:pPr>
              <a:buClr>
                <a:srgbClr val="FFFFFF"/>
              </a:buClr>
            </a:pPr>
            <a:r>
              <a:rPr lang="en-US" dirty="0">
                <a:ea typeface="Calibri"/>
                <a:cs typeface="Calibri"/>
              </a:rPr>
              <a:t>We stayed connected through a group chat to ask each other questions, so we were all on the same page</a:t>
            </a:r>
          </a:p>
        </p:txBody>
      </p:sp>
    </p:spTree>
    <p:extLst>
      <p:ext uri="{BB962C8B-B14F-4D97-AF65-F5344CB8AC3E}">
        <p14:creationId xmlns:p14="http://schemas.microsoft.com/office/powerpoint/2010/main" val="3621628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4309F57-B331-41A7-9154-15EC2AF4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633871" cy="51435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24B142-FD6F-5984-C770-3C66F4718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75557"/>
            <a:ext cx="5551714" cy="102053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Future Development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5475BE-ABC1-9885-175C-B1268FCB7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396092"/>
            <a:ext cx="5551714" cy="3371851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buNone/>
            </a:pPr>
            <a:r>
              <a:rPr lang="en" sz="1700" dirty="0"/>
              <a:t>If we had another term to work on this project, we would make our defusing process for the bomb more complex, for instance: </a:t>
            </a:r>
            <a:endParaRPr lang="en-US" sz="17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,Sans-Serif"/>
              <a:buChar char="•"/>
            </a:pPr>
            <a:r>
              <a:rPr lang="en" sz="1700" dirty="0"/>
              <a:t>Do morse code for the button function</a:t>
            </a:r>
            <a:endParaRPr lang="en-US" sz="1700" dirty="0"/>
          </a:p>
          <a:p>
            <a:pPr marL="285750" indent="-285750">
              <a:buFont typeface="Arial,Sans-Serif"/>
              <a:buChar char="•"/>
            </a:pPr>
            <a:r>
              <a:rPr lang="en" sz="1700" dirty="0"/>
              <a:t>Add more images/years for the user to guess </a:t>
            </a:r>
            <a:endParaRPr lang="en-US" sz="1700" dirty="0"/>
          </a:p>
          <a:p>
            <a:pPr marL="285750" indent="-285750">
              <a:buFont typeface="Arial,Sans-Serif"/>
              <a:buChar char="•"/>
            </a:pPr>
            <a:r>
              <a:rPr lang="en" sz="1700" dirty="0"/>
              <a:t>Make use of the Makerspace for better individuality in our project</a:t>
            </a:r>
            <a:endParaRPr lang="en-US" sz="1700" dirty="0"/>
          </a:p>
          <a:p>
            <a:pPr>
              <a:buFont typeface="Arial,Sans-Serif"/>
              <a:buChar char="•"/>
            </a:pPr>
            <a:r>
              <a:rPr lang="en" sz="1700" dirty="0"/>
              <a:t>Add extra effects such as music, sound effects, etc.. </a:t>
            </a:r>
          </a:p>
          <a:p>
            <a:pPr>
              <a:buFont typeface="Arial,Sans-Serif"/>
              <a:buChar char="•"/>
            </a:pPr>
            <a:r>
              <a:rPr lang="en-US" sz="1700" dirty="0"/>
              <a:t>Add hidden failure states for all of the years possible with the toggles step. E.g. get sent to 1351 CE</a:t>
            </a:r>
          </a:p>
          <a:p>
            <a:pPr>
              <a:buFont typeface="Arial,Sans-Serif"/>
              <a:buChar char="•"/>
            </a:pPr>
            <a:r>
              <a:rPr lang="en-US" sz="1700" dirty="0"/>
              <a:t>Use a sequential process for solving the bomb, so we can introduce more complexity</a:t>
            </a:r>
          </a:p>
          <a:p>
            <a:pPr>
              <a:buFont typeface="Arial,Sans-Serif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540806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C4EF2-FBF0-F1D0-B4FB-ECFCA9BA1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357" y="152158"/>
            <a:ext cx="3799285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sz="5400" dirty="0"/>
              <a:t>Reflection</a:t>
            </a:r>
            <a:endParaRPr lang="en-US" sz="5400" dirty="0">
              <a:ea typeface="Calibri Light"/>
              <a:cs typeface="Calibri Light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2D41A6B-4C81-4528-0F33-817937143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190" y="1662584"/>
            <a:ext cx="4518517" cy="269519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200" b="1" dirty="0"/>
              <a:t>This project has helped us: </a:t>
            </a:r>
            <a:endParaRPr lang="en-US" sz="1200" b="1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buChar char="•"/>
            </a:pPr>
            <a:r>
              <a:rPr lang="en-US" sz="1200" dirty="0"/>
              <a:t>Work more effectively as a team</a:t>
            </a:r>
          </a:p>
          <a:p>
            <a:pPr marL="171450" indent="-171450">
              <a:buChar char="•"/>
            </a:pPr>
            <a:r>
              <a:rPr lang="en-US" sz="1200" dirty="0"/>
              <a:t>Improve our understanding of coding concepts</a:t>
            </a:r>
          </a:p>
          <a:p>
            <a:pPr marL="171450" indent="-171450">
              <a:buChar char="•"/>
            </a:pPr>
            <a:r>
              <a:rPr lang="en-US" sz="1200" dirty="0"/>
              <a:t>Learn how to manage time and stay  organized for long projects</a:t>
            </a:r>
          </a:p>
          <a:p>
            <a:pPr marL="0" indent="0">
              <a:buNone/>
            </a:pPr>
            <a:r>
              <a:rPr lang="en-US" sz="1200" b="1" dirty="0"/>
              <a:t>This project will help in future classes by: </a:t>
            </a:r>
            <a:endParaRPr lang="en-US" sz="1200" b="1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buChar char="•"/>
            </a:pPr>
            <a:r>
              <a:rPr lang="en-US" sz="1200" dirty="0"/>
              <a:t>Improving our ability to break down complex problems into smaller steps</a:t>
            </a:r>
          </a:p>
          <a:p>
            <a:pPr marL="171450" indent="-171450">
              <a:buChar char="•"/>
            </a:pPr>
            <a:r>
              <a:rPr lang="en-US" sz="1200" dirty="0"/>
              <a:t>Building new confidence using new technologies tools, and hardware </a:t>
            </a:r>
            <a:endParaRPr lang="en-US" sz="1200" dirty="0">
              <a:ea typeface="Calibri"/>
              <a:cs typeface="Calibri"/>
            </a:endParaRPr>
          </a:p>
          <a:p>
            <a:pPr marL="171450" indent="-171450">
              <a:buChar char="•"/>
            </a:pPr>
            <a:endParaRPr lang="en-US" sz="1200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D2B4D595-0CDF-AB41-374A-590D831F5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2843" y="1659189"/>
            <a:ext cx="3746499" cy="292734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200" b="1" dirty="0"/>
              <a:t>If we had the freedom to redesign this project, we would:</a:t>
            </a:r>
            <a:endParaRPr lang="en-US" sz="1200" b="1" dirty="0">
              <a:ea typeface="Calibri" panose="020F0502020204030204"/>
              <a:cs typeface="Calibri" panose="020F0502020204030204"/>
            </a:endParaRPr>
          </a:p>
          <a:p>
            <a:r>
              <a:rPr lang="en-US" sz="1200" dirty="0"/>
              <a:t>Have more formal lessons on how to use GitHub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r>
              <a:rPr lang="en-US" sz="1200" dirty="0"/>
              <a:t>Add more flexibility for different skill levels 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r>
              <a:rPr lang="en-US" sz="1200" dirty="0"/>
              <a:t>Allow for a short revision/resubmission period for feedback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1200" b="1" dirty="0">
                <a:ea typeface="Calibri"/>
                <a:cs typeface="Calibri"/>
              </a:rPr>
              <a:t>Challenges that we had included: </a:t>
            </a:r>
          </a:p>
          <a:p>
            <a:r>
              <a:rPr lang="en-US" sz="1200" dirty="0">
                <a:ea typeface="Calibri" panose="020F0502020204030204"/>
                <a:cs typeface="Calibri" panose="020F0502020204030204"/>
              </a:rPr>
              <a:t>Making sure our code would not accidently mess up each others code as all the functions relied on the button mechanics. </a:t>
            </a:r>
          </a:p>
          <a:p>
            <a:pPr>
              <a:buClr>
                <a:srgbClr val="FFFFFF"/>
              </a:buClr>
            </a:pPr>
            <a:r>
              <a:rPr lang="en-US" sz="1200" dirty="0">
                <a:ea typeface="Calibri" panose="020F0502020204030204"/>
                <a:cs typeface="Calibri" panose="020F0502020204030204"/>
              </a:rPr>
              <a:t>The Gui and Gifs creating errors and messing with the display of our bomb. </a:t>
            </a:r>
          </a:p>
          <a:p>
            <a:pPr marL="457200" indent="-457200"/>
            <a:endParaRPr lang="en-US" sz="1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745860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</Words>
  <Application>Microsoft Macintosh PowerPoint</Application>
  <PresentationFormat>On-screen Show (16:9)</PresentationFormat>
  <Paragraphs>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 Light</vt:lpstr>
      <vt:lpstr>Arial,Sans-Serif</vt:lpstr>
      <vt:lpstr>Calibri</vt:lpstr>
      <vt:lpstr>Arial</vt:lpstr>
      <vt:lpstr>Celestial</vt:lpstr>
      <vt:lpstr>Defuse the Bomb Presentation </vt:lpstr>
      <vt:lpstr>Time Travel Story</vt:lpstr>
      <vt:lpstr>MAINTENANCE PAGE</vt:lpstr>
      <vt:lpstr>Button Function</vt:lpstr>
      <vt:lpstr>Wires Function</vt:lpstr>
      <vt:lpstr>Keypad Function</vt:lpstr>
      <vt:lpstr>Toggles Function</vt:lpstr>
      <vt:lpstr>Team Dynamic and Goals</vt:lpstr>
      <vt:lpstr>Future Development</vt:lpstr>
      <vt:lpstr>Reflection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Madeline Battig</cp:lastModifiedBy>
  <cp:revision>2</cp:revision>
  <dcterms:modified xsi:type="dcterms:W3CDTF">2026-05-05T04:30:48Z</dcterms:modified>
</cp:coreProperties>
</file>